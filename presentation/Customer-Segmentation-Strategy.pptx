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6225"/>
            <a:ext cx="130023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-22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967314" y="261937"/>
            <a:ext cx="5702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Project: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7453387" y="261937"/>
            <a:ext cx="16605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RFM Customer Segmentation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003381" y="436811"/>
            <a:ext cx="3778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Date: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8341444" y="436811"/>
            <a:ext cx="5061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Q3 2026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819305" y="611684"/>
            <a:ext cx="6343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Audience: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354714" y="611684"/>
            <a:ext cx="17888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CEO, Marketing, CRM, Owners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658026" y="786557"/>
            <a:ext cx="5061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Status: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094762" y="786557"/>
            <a:ext cx="8268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3397" y="2513856"/>
            <a:ext cx="3476625" cy="257175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97821"/>
            <a:ext cx="5296205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2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Cohorting, Revenue Concentration &amp; Churn</a:t>
            </a:r>
            <a:endParaRPr lang="en-US" sz="1220" dirty="0"/>
          </a:p>
          <a:p>
            <a:pPr algn="l" indent="0" marL="0">
              <a:lnSpc>
                <a:spcPts val="1713"/>
              </a:lnSpc>
              <a:buNone/>
            </a:pPr>
            <a:r>
              <a:rPr lang="en-US" sz="12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Prevention Engine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125542" y="4418707"/>
            <a:ext cx="2562225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34816"/>
            <a:ext cx="6217831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21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RFM Customer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57200" y="3020616"/>
            <a:ext cx="5950156" cy="833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21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1828800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7386" y="834814"/>
            <a:ext cx="2614613" cy="108585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35" y="998190"/>
            <a:ext cx="12757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Total Gross Revenue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40035" y="1125438"/>
            <a:ext cx="233233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11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R$ 15.74M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640035" y="1625426"/>
            <a:ext cx="19350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from Olist platform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255206" y="834814"/>
            <a:ext cx="2624138" cy="1085850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2618" y="998190"/>
            <a:ext cx="10833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Unique Customers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442618" y="1125438"/>
            <a:ext cx="171514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115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94,989</a:t>
            </a:r>
            <a:endParaRPr lang="en-US" sz="2880" dirty="0"/>
          </a:p>
        </p:txBody>
      </p:sp>
      <p:sp>
        <p:nvSpPr>
          <p:cNvPr id="12" name="Text 10"/>
          <p:cNvSpPr/>
          <p:nvPr/>
        </p:nvSpPr>
        <p:spPr>
          <a:xfrm>
            <a:off x="3442618" y="1625426"/>
            <a:ext cx="142019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Analyzed (2016–2018)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062551" y="834814"/>
            <a:ext cx="2624138" cy="1085850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9963" y="998190"/>
            <a:ext cx="12757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Behavioral Segments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249963" y="1125438"/>
            <a:ext cx="34552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115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6249963" y="1625426"/>
            <a:ext cx="1571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 through Lost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457200" y="2136279"/>
            <a:ext cx="166319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CONCENTRATION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457684" y="2371874"/>
            <a:ext cx="3976687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20255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715045" y="2519511"/>
            <a:ext cx="26667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 generate R$ 306.21 ARPU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15045" y="2705026"/>
            <a:ext cx="45690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1.85x the platform average of R$ 165.68 — 13,354 users, 25.98% of revenue.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57200" y="2983111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715045" y="2982367"/>
            <a:ext cx="28437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+ Champions = 58.10% of revenue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715045" y="3167881"/>
            <a:ext cx="373794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R$ 9.14M from 55,094 customers — the core retention priority.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4709145" y="2136279"/>
            <a:ext cx="113684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EXPOSURE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4709629" y="2371874"/>
            <a:ext cx="3976687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45" y="2520255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4966990" y="2519511"/>
            <a:ext cx="20895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R$ 427.93K at immediate risk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4966990" y="2705026"/>
            <a:ext cx="421563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 At-Risk users with R$ 225.23 ARPU showing early churn signals.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4709145" y="2983111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90" dirty="0"/>
          </a:p>
        </p:txBody>
      </p:sp>
      <p:sp>
        <p:nvSpPr>
          <p:cNvPr id="31" name="Text 29"/>
          <p:cNvSpPr/>
          <p:nvPr/>
        </p:nvSpPr>
        <p:spPr>
          <a:xfrm>
            <a:off x="4966990" y="2982367"/>
            <a:ext cx="243971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R$ 2.07M trapped in Lost segment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4966990" y="3167881"/>
            <a:ext cx="459301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12,593 churned users — 5% win-back yields R$ 103K in reactivated revenue.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457200" y="4767635"/>
            <a:ext cx="29433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Executive Summary / RFM Customer Segmentation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57200" y="223838"/>
            <a:ext cx="403096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52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750" y="335198"/>
            <a:ext cx="2009775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853455"/>
            <a:ext cx="5057455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is Brazil's largest e-commerce marketplace integrator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connecting SME merchants to major retail channels for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94,989 unique buyers.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6195" y="1605707"/>
            <a:ext cx="3876675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79761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777180" y="1779017"/>
            <a:ext cx="159722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Multi-Seller Sourcing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180" y="1966243"/>
            <a:ext cx="4345074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across 70+ categories — Electronics, Health, Furniture, Toys —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fulfilled via distributed sellers.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457200" y="2388319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777180" y="2387575"/>
            <a:ext cx="233678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Platform-Level CRM Ownership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180" y="2574801"/>
            <a:ext cx="4622907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manages branding, payments, logistics, and support — making retention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platform-level priority.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57200" y="2996878"/>
            <a:ext cx="2140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777180" y="2996133"/>
            <a:ext cx="245480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90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Diverse Transaction Architecture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180" y="3183359"/>
            <a:ext cx="4530425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Multi-item orders across 27 states with freight variation — creating complex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and spend patterns.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696718" y="833921"/>
            <a:ext cx="3990975" cy="4052887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0973" y="1028700"/>
            <a:ext cx="173739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MACRO-ECONOMIC DRIVERS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4930080" y="1290972"/>
            <a:ext cx="3524250" cy="609600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4930973" y="1304255"/>
            <a:ext cx="17481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Acquisition Costs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930973" y="1489770"/>
            <a:ext cx="454203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CPMs rising across Latin American channels — platform must maximize LTV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single-order CAC.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930080" y="2031169"/>
            <a:ext cx="3524250" cy="609600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4930973" y="2044452"/>
            <a:ext cx="151847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Complexity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930973" y="2229966"/>
            <a:ext cx="445013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times 2–45 days across Brazil — delivery friction directly impacts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recency and repeat probability.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4930973" y="2784649"/>
            <a:ext cx="13842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 Culture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930973" y="2970163"/>
            <a:ext cx="435639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70% of purchases use credit installments — monetary spend varies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substantially by payment flexibility.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457200" y="4767635"/>
            <a:ext cx="287919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Business Context / RFM Customer Segmentation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223838"/>
            <a:ext cx="435532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Background</a:t>
            </a:r>
            <a:endParaRPr lang="en-US" sz="252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080" y="1290972"/>
            <a:ext cx="3524250" cy="60960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0080" y="2031169"/>
            <a:ext cx="3524250" cy="60960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1828800" cy="152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8167" y="833475"/>
            <a:ext cx="2619375" cy="3848100"/>
          </a:xfrm>
          <a:prstGeom prst="rect">
            <a:avLst/>
          </a:prstGeom>
          <a:ln w="4763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798" y="998190"/>
            <a:ext cx="8268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Challenge 01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44798" y="1219721"/>
            <a:ext cx="289216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Churn &amp; Silent Customer Loss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43905" y="1476152"/>
            <a:ext cx="2247900" cy="476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4798" y="1602804"/>
            <a:ext cx="2924376" cy="2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12,593 customers (13.26%) have fully churned</a:t>
            </a:r>
            <a:endParaRPr lang="en-US" sz="790" dirty="0"/>
          </a:p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previously generating R$ 2.07M.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643905" y="3949675"/>
            <a:ext cx="2247900" cy="5715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81943" y="4031084"/>
            <a:ext cx="10267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Revenue exposure</a:t>
            </a:r>
            <a:endParaRPr lang="en-US" sz="610" dirty="0"/>
          </a:p>
        </p:txBody>
      </p:sp>
      <p:sp>
        <p:nvSpPr>
          <p:cNvPr id="12" name="Text 10"/>
          <p:cNvSpPr/>
          <p:nvPr/>
        </p:nvSpPr>
        <p:spPr>
          <a:xfrm>
            <a:off x="781943" y="4171429"/>
            <a:ext cx="122449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R$ 2.07M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3262313" y="833475"/>
            <a:ext cx="2619375" cy="3848100"/>
          </a:xfrm>
          <a:prstGeom prst="rect">
            <a:avLst/>
          </a:prstGeom>
          <a:ln w="4763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8943" y="998190"/>
            <a:ext cx="8268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Challenge 02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448943" y="1219721"/>
            <a:ext cx="258995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Misallocated Marketing Budget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448050" y="1476152"/>
            <a:ext cx="2247900" cy="476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48943" y="1602804"/>
            <a:ext cx="2818834" cy="44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Uniform blast campaigns dilute margins on</a:t>
            </a:r>
            <a:endParaRPr lang="en-US" sz="790" dirty="0"/>
          </a:p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 (R$ 306.21 ARPU) while failing to</a:t>
            </a:r>
            <a:endParaRPr lang="en-US" sz="790" dirty="0"/>
          </a:p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single-order buyers.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3448050" y="3949675"/>
            <a:ext cx="2247900" cy="5715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586088" y="4031084"/>
            <a:ext cx="17539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gap: Champions vs Loyal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3586088" y="4171429"/>
            <a:ext cx="7688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2.53x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6066458" y="833475"/>
            <a:ext cx="2619375" cy="3848100"/>
          </a:xfrm>
          <a:prstGeom prst="rect">
            <a:avLst/>
          </a:prstGeom>
          <a:ln w="4763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3088" y="998190"/>
            <a:ext cx="8268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Challenge 03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253088" y="1219721"/>
            <a:ext cx="19380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Behavioral Visibility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6252195" y="1476152"/>
            <a:ext cx="2247900" cy="476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53088" y="1602804"/>
            <a:ext cx="2759727" cy="440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dynamic segmentation, CRM teams</a:t>
            </a:r>
            <a:endParaRPr lang="en-US" sz="790" dirty="0"/>
          </a:p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identify which buyers need VIP</a:t>
            </a:r>
            <a:endParaRPr lang="en-US" sz="790" dirty="0"/>
          </a:p>
          <a:p>
            <a:pPr algn="l" indent="0" marL="0">
              <a:lnSpc>
                <a:spcPts val="1267"/>
              </a:lnSpc>
              <a:buNone/>
            </a:pPr>
            <a:r>
              <a:rPr lang="en-US" sz="79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vs. reactivation campaigns.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6252195" y="3949675"/>
            <a:ext cx="2247900" cy="5715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90233" y="4031084"/>
            <a:ext cx="9662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At-risk revenue</a:t>
            </a:r>
            <a:endParaRPr lang="en-US" sz="610" dirty="0"/>
          </a:p>
        </p:txBody>
      </p:sp>
      <p:sp>
        <p:nvSpPr>
          <p:cNvPr id="28" name="Text 26"/>
          <p:cNvSpPr/>
          <p:nvPr/>
        </p:nvSpPr>
        <p:spPr>
          <a:xfrm>
            <a:off x="6390233" y="4171429"/>
            <a:ext cx="14755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spc="-4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R$ 427.93K</a:t>
            </a:r>
            <a:endParaRPr lang="en-US" sz="1580" dirty="0"/>
          </a:p>
        </p:txBody>
      </p:sp>
      <p:sp>
        <p:nvSpPr>
          <p:cNvPr id="29" name="Shape 27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457200" y="4767635"/>
            <a:ext cx="29433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Problem Statement / RFM Customer Segmentation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57200" y="223838"/>
            <a:ext cx="385325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52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336" y="335198"/>
            <a:ext cx="1738312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853455"/>
            <a:ext cx="7380625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analytical objectives structure this engagement — spanning behavioral modeling,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protection, and CRM activation.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57200" y="1451446"/>
            <a:ext cx="8229600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76177"/>
            <a:ext cx="342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2E8F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005780" y="1676177"/>
            <a:ext cx="27285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Customer Segmentation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1005780" y="1880071"/>
            <a:ext cx="4339657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94,989 customers into distinct RFM behavioral cohorts using</a:t>
            </a:r>
            <a:endParaRPr lang="en-US" sz="79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SQL-driven scoring pipelines.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457200" y="2336155"/>
            <a:ext cx="342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2E8F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1005780" y="2336155"/>
            <a:ext cx="251884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Concentration Analysis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1005780" y="2540050"/>
            <a:ext cx="4279679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gross revenue contribution and ARPU per segment from R$</a:t>
            </a:r>
            <a:endParaRPr lang="en-US" sz="79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15.74M in total platform sales.</a:t>
            </a:r>
            <a:endParaRPr lang="en-US" sz="790" dirty="0"/>
          </a:p>
        </p:txBody>
      </p:sp>
      <p:sp>
        <p:nvSpPr>
          <p:cNvPr id="13" name="Text 11"/>
          <p:cNvSpPr/>
          <p:nvPr/>
        </p:nvSpPr>
        <p:spPr>
          <a:xfrm>
            <a:off x="457200" y="2996133"/>
            <a:ext cx="342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2E8F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005780" y="2996133"/>
            <a:ext cx="19202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Risk Identification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005780" y="3200028"/>
            <a:ext cx="419387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financially quantify At-Risk and Lost customer revenue</a:t>
            </a:r>
            <a:endParaRPr lang="en-US" sz="79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for urgent intervention.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4754910" y="1676177"/>
            <a:ext cx="342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2E8F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5303490" y="1676177"/>
            <a:ext cx="19158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CRM Targeting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5303490" y="1880071"/>
            <a:ext cx="4026031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segment-specific campaign triggers — VIP concierge for</a:t>
            </a:r>
            <a:endParaRPr lang="en-US" sz="79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Champions, automated win-back for Lost.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4754910" y="2336155"/>
            <a:ext cx="342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2E8F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5303490" y="2336155"/>
            <a:ext cx="21452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Analytics Pipeline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303490" y="2540050"/>
            <a:ext cx="4427108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a production-grade SQL + Python + Tableau pipeline adaptable</a:t>
            </a:r>
            <a:endParaRPr lang="en-US" sz="79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retail, FMCG, and banking verticals.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457200" y="4767635"/>
            <a:ext cx="24943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Objectives / RFM Customer Segmentation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57200" y="223838"/>
            <a:ext cx="430338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Objectives</a:t>
            </a:r>
            <a:endParaRPr lang="en-US" sz="252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336" y="335198"/>
            <a:ext cx="823913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8167" y="782724"/>
            <a:ext cx="1952625" cy="757238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640035" y="900038"/>
            <a:ext cx="10267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Unique Customers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640035" y="1086222"/>
            <a:ext cx="1189085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81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94,989</a:t>
            </a:r>
            <a:endParaRPr lang="en-US" sz="2020" dirty="0"/>
          </a:p>
        </p:txBody>
      </p:sp>
      <p:sp>
        <p:nvSpPr>
          <p:cNvPr id="8" name="Shape 6"/>
          <p:cNvSpPr/>
          <p:nvPr/>
        </p:nvSpPr>
        <p:spPr>
          <a:xfrm>
            <a:off x="2549872" y="782724"/>
            <a:ext cx="1952625" cy="757238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2731740" y="900038"/>
            <a:ext cx="844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Gross Revenue</a:t>
            </a:r>
            <a:endParaRPr lang="en-US" sz="610" dirty="0"/>
          </a:p>
        </p:txBody>
      </p:sp>
      <p:sp>
        <p:nvSpPr>
          <p:cNvPr id="10" name="Text 8"/>
          <p:cNvSpPr/>
          <p:nvPr/>
        </p:nvSpPr>
        <p:spPr>
          <a:xfrm>
            <a:off x="2731740" y="1086222"/>
            <a:ext cx="1627503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81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R$ 15.74M</a:t>
            </a:r>
            <a:endParaRPr lang="en-US" sz="2020" dirty="0"/>
          </a:p>
        </p:txBody>
      </p:sp>
      <p:sp>
        <p:nvSpPr>
          <p:cNvPr id="11" name="Shape 9"/>
          <p:cNvSpPr/>
          <p:nvPr/>
        </p:nvSpPr>
        <p:spPr>
          <a:xfrm>
            <a:off x="4641577" y="782724"/>
            <a:ext cx="1952625" cy="757238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4823445" y="900038"/>
            <a:ext cx="78433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Time Horizon</a:t>
            </a:r>
            <a:endParaRPr lang="en-US" sz="610" dirty="0"/>
          </a:p>
        </p:txBody>
      </p:sp>
      <p:sp>
        <p:nvSpPr>
          <p:cNvPr id="13" name="Text 11"/>
          <p:cNvSpPr/>
          <p:nvPr/>
        </p:nvSpPr>
        <p:spPr>
          <a:xfrm>
            <a:off x="4823445" y="1086222"/>
            <a:ext cx="1307783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81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2016–18</a:t>
            </a:r>
            <a:endParaRPr lang="en-US" sz="2020" dirty="0"/>
          </a:p>
        </p:txBody>
      </p:sp>
      <p:sp>
        <p:nvSpPr>
          <p:cNvPr id="14" name="Shape 12"/>
          <p:cNvSpPr/>
          <p:nvPr/>
        </p:nvSpPr>
        <p:spPr>
          <a:xfrm>
            <a:off x="6733282" y="782724"/>
            <a:ext cx="1952625" cy="75723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6915150" y="900038"/>
            <a:ext cx="10267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Geographic Reach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6915150" y="1086222"/>
            <a:ext cx="1476688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81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States</a:t>
            </a:r>
            <a:endParaRPr lang="en-US" sz="2020" dirty="0"/>
          </a:p>
        </p:txBody>
      </p:sp>
      <p:sp>
        <p:nvSpPr>
          <p:cNvPr id="17" name="Text 15"/>
          <p:cNvSpPr/>
          <p:nvPr/>
        </p:nvSpPr>
        <p:spPr>
          <a:xfrm>
            <a:off x="457200" y="1754981"/>
            <a:ext cx="293008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 SOURCES — 5 JOINED TABLES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457200" y="1964457"/>
            <a:ext cx="8229600" cy="2714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45" y="2046684"/>
            <a:ext cx="36023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71809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TABLE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3276600" y="2046684"/>
            <a:ext cx="29957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71809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ROWS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4663380" y="2046684"/>
            <a:ext cx="12691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71809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ROLE IN RFM ANALYSIS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457200" y="2286037"/>
            <a:ext cx="8229600" cy="304800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594345" y="2368823"/>
            <a:ext cx="16965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olist_customers_dataset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276600" y="2368823"/>
            <a:ext cx="48483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99,441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663380" y="2373585"/>
            <a:ext cx="409374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transient customer_id to permanent customer_unique_id entity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57200" y="2640397"/>
            <a:ext cx="8229600" cy="304800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594345" y="2723183"/>
            <a:ext cx="1482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olist_orders_dataset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276600" y="2723183"/>
            <a:ext cx="48483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99,441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663380" y="2727945"/>
            <a:ext cx="43361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purchase timestamps for Recency — canceled orders excluded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57200" y="2994757"/>
            <a:ext cx="8229600" cy="304800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594345" y="3077542"/>
            <a:ext cx="183906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olist_order_items_dataset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3276600" y="3077542"/>
            <a:ext cx="55612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112,650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4663380" y="3082305"/>
            <a:ext cx="290696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Supplies price + freight for Monetary calculation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457200" y="3349117"/>
            <a:ext cx="8229600" cy="304800"/>
          </a:xfrm>
          <a:prstGeom prst="rect">
            <a:avLst/>
          </a:prstGeom>
          <a:ln/>
        </p:spPr>
      </p:sp>
      <p:sp>
        <p:nvSpPr>
          <p:cNvPr id="35" name="Text 33"/>
          <p:cNvSpPr/>
          <p:nvPr/>
        </p:nvSpPr>
        <p:spPr>
          <a:xfrm>
            <a:off x="594345" y="3431902"/>
            <a:ext cx="16252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olist_products_dataset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276600" y="3431902"/>
            <a:ext cx="48483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32,951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663380" y="3436665"/>
            <a:ext cx="28601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Category-level spend breakdowns per segment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94345" y="3786262"/>
            <a:ext cx="205295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olist_order_payments_dataset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3276600" y="3786262"/>
            <a:ext cx="55612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103,886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663380" y="3791024"/>
            <a:ext cx="31116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types, installments, and transaction values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42" name="Text 40"/>
          <p:cNvSpPr/>
          <p:nvPr/>
        </p:nvSpPr>
        <p:spPr>
          <a:xfrm>
            <a:off x="457200" y="4767635"/>
            <a:ext cx="23019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Dataset / RFM Customer Segmentation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57200" y="223838"/>
            <a:ext cx="159799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252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167" y="782724"/>
            <a:ext cx="1952625" cy="757238"/>
          </a:xfrm>
          <a:prstGeom prst="rect">
            <a:avLst/>
          </a:prstGeom>
        </p:spPr>
      </p:pic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9872" y="782724"/>
            <a:ext cx="1952625" cy="757238"/>
          </a:xfrm>
          <a:prstGeom prst="rect">
            <a:avLst/>
          </a:prstGeom>
        </p:spPr>
      </p:pic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577" y="782724"/>
            <a:ext cx="1952625" cy="757238"/>
          </a:xfrm>
          <a:prstGeom prst="rect">
            <a:avLst/>
          </a:prstGeom>
        </p:spPr>
      </p:pic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3282" y="782724"/>
            <a:ext cx="1952625" cy="757238"/>
          </a:xfrm>
          <a:prstGeom prst="rect">
            <a:avLst/>
          </a:prstGeom>
        </p:spPr>
      </p:pic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2286037"/>
            <a:ext cx="8229600" cy="304800"/>
          </a:xfrm>
          <a:prstGeom prst="rect">
            <a:avLst/>
          </a:prstGeom>
        </p:spPr>
      </p:pic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2640397"/>
            <a:ext cx="8229600" cy="304800"/>
          </a:xfrm>
          <a:prstGeom prst="rect">
            <a:avLst/>
          </a:prstGeom>
        </p:spPr>
      </p:pic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" y="2994757"/>
            <a:ext cx="8229600" cy="304800"/>
          </a:xfrm>
          <a:prstGeom prst="rect">
            <a:avLst/>
          </a:prstGeom>
        </p:spPr>
      </p:pic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200" y="3349117"/>
            <a:ext cx="8229600" cy="304800"/>
          </a:xfrm>
          <a:prstGeom prst="rect">
            <a:avLst/>
          </a:prstGeom>
        </p:spPr>
      </p:pic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266" y="335198"/>
            <a:ext cx="1919287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792435"/>
            <a:ext cx="184168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5-STAGE ANALYTICS PIPELINE</a:t>
            </a:r>
            <a:endParaRPr lang="en-US" sz="610" dirty="0"/>
          </a:p>
        </p:txBody>
      </p:sp>
      <p:sp>
        <p:nvSpPr>
          <p:cNvPr id="6" name="Shape 4"/>
          <p:cNvSpPr/>
          <p:nvPr/>
        </p:nvSpPr>
        <p:spPr>
          <a:xfrm>
            <a:off x="456716" y="1028067"/>
            <a:ext cx="1647825" cy="1062038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594345" y="1170905"/>
            <a:ext cx="5420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Stage 01</a:t>
            </a:r>
            <a:endParaRPr lang="en-US" sz="610" dirty="0"/>
          </a:p>
        </p:txBody>
      </p:sp>
      <p:sp>
        <p:nvSpPr>
          <p:cNvPr id="8" name="Text 6"/>
          <p:cNvSpPr/>
          <p:nvPr/>
        </p:nvSpPr>
        <p:spPr>
          <a:xfrm>
            <a:off x="594345" y="1348383"/>
            <a:ext cx="106322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594345" y="1559644"/>
            <a:ext cx="1541405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5 Olist tables on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customer_unique_id —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excluding canceled orders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103574" y="1028067"/>
            <a:ext cx="1647825" cy="106203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2241203" y="1170905"/>
            <a:ext cx="5420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Stage 02</a:t>
            </a:r>
            <a:endParaRPr lang="en-US" sz="610" dirty="0"/>
          </a:p>
        </p:txBody>
      </p:sp>
      <p:sp>
        <p:nvSpPr>
          <p:cNvPr id="12" name="Text 10"/>
          <p:cNvSpPr/>
          <p:nvPr/>
        </p:nvSpPr>
        <p:spPr>
          <a:xfrm>
            <a:off x="2241203" y="1348383"/>
            <a:ext cx="102008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Engine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2241203" y="1559644"/>
            <a:ext cx="1825332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Recency (DATEDIFF),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(COUNT DISTINCT),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Monetary (SUM)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750432" y="1028067"/>
            <a:ext cx="1647825" cy="106203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3888060" y="1170905"/>
            <a:ext cx="5420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Stage 03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3888060" y="1348383"/>
            <a:ext cx="9421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RFM Scoring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888060" y="1559644"/>
            <a:ext cx="1627309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NTILE(5) for R and M;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CASE logic for F to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data skew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5397289" y="1028067"/>
            <a:ext cx="1647825" cy="1062038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5534918" y="1170905"/>
            <a:ext cx="5420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Stage 04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5534918" y="1348383"/>
            <a:ext cx="10322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534918" y="1559644"/>
            <a:ext cx="1654686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Champions, Loyal, At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Risk, Lost, Others via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 RFM score rules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7044147" y="1028067"/>
            <a:ext cx="1643063" cy="1062038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7181776" y="1170905"/>
            <a:ext cx="5420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Stage 05</a:t>
            </a:r>
            <a:endParaRPr lang="en-US" sz="610" dirty="0"/>
          </a:p>
        </p:txBody>
      </p:sp>
      <p:sp>
        <p:nvSpPr>
          <p:cNvPr id="24" name="Text 22"/>
          <p:cNvSpPr/>
          <p:nvPr/>
        </p:nvSpPr>
        <p:spPr>
          <a:xfrm>
            <a:off x="7181776" y="1348383"/>
            <a:ext cx="118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Analytics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7181776" y="1559644"/>
            <a:ext cx="1705570" cy="38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dashboard + Python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charts for C-suite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CRM teams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57200" y="2295562"/>
            <a:ext cx="8229600" cy="1143000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253" y="2464371"/>
            <a:ext cx="100344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RULES</a:t>
            </a:r>
            <a:endParaRPr lang="en-US" sz="610" dirty="0"/>
          </a:p>
        </p:txBody>
      </p:sp>
      <p:sp>
        <p:nvSpPr>
          <p:cNvPr id="28" name="Text 26"/>
          <p:cNvSpPr/>
          <p:nvPr/>
        </p:nvSpPr>
        <p:spPr>
          <a:xfrm>
            <a:off x="736253" y="2704728"/>
            <a:ext cx="8023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8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Recency (R)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36253" y="2860625"/>
            <a:ext cx="19171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NTILE(5) ORDER BY recency ASC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36253" y="3014514"/>
            <a:ext cx="12954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gap = Score 5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2745581" y="2704728"/>
            <a:ext cx="9377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8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Frequency (F)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2745581" y="2860625"/>
            <a:ext cx="19812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CASE WHEN freq &gt;= 4 THEN 5 ...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5581" y="3014514"/>
            <a:ext cx="1840810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CASE — handles &gt;90%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single-order skew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754910" y="2704728"/>
            <a:ext cx="870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8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Monetary (M)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4754910" y="2860625"/>
            <a:ext cx="20454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NTILE(5) ORDER BY monetary DESC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754910" y="3014514"/>
            <a:ext cx="138904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spend = Score 5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764238" y="2704728"/>
            <a:ext cx="10732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8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Composite Score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764238" y="2860625"/>
            <a:ext cx="13399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 x 100 + F x 10 + M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764238" y="3014514"/>
            <a:ext cx="18081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Range: 111 (worst) to 555 (best)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41" name="Text 39"/>
          <p:cNvSpPr/>
          <p:nvPr/>
        </p:nvSpPr>
        <p:spPr>
          <a:xfrm>
            <a:off x="457200" y="4767635"/>
            <a:ext cx="25585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Methodology / RFM Customer Segmentation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57200" y="223838"/>
            <a:ext cx="47069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Methodology</a:t>
            </a:r>
            <a:endParaRPr lang="en-US" sz="252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716" y="1028067"/>
            <a:ext cx="1647825" cy="1062038"/>
          </a:xfrm>
          <a:prstGeom prst="rect">
            <a:avLst/>
          </a:prstGeom>
        </p:spPr>
      </p:pic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3574" y="1028067"/>
            <a:ext cx="1647825" cy="1062038"/>
          </a:xfrm>
          <a:prstGeom prst="rect">
            <a:avLst/>
          </a:prstGeom>
        </p:spPr>
      </p:pic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0432" y="1028067"/>
            <a:ext cx="1647825" cy="1062038"/>
          </a:xfrm>
          <a:prstGeom prst="rect">
            <a:avLst/>
          </a:prstGeom>
        </p:spPr>
      </p:pic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7289" y="1028067"/>
            <a:ext cx="1647825" cy="1062038"/>
          </a:xfrm>
          <a:prstGeom prst="rect">
            <a:avLst/>
          </a:prstGeom>
        </p:spPr>
      </p:pic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4147" y="1028067"/>
            <a:ext cx="1643063" cy="1062038"/>
          </a:xfrm>
          <a:prstGeom prst="rect">
            <a:avLst/>
          </a:prstGeom>
        </p:spPr>
      </p:pic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1828800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7386" y="783245"/>
            <a:ext cx="2614613" cy="2200275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35" y="941933"/>
            <a:ext cx="78433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DIMENSION 01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640035" y="1168896"/>
            <a:ext cx="28109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160" b="1" spc="-8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40035" y="1633612"/>
            <a:ext cx="6588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Recency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40035" y="1844873"/>
            <a:ext cx="288771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since customer's most recent order on the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640742" y="2225464"/>
            <a:ext cx="2247900" cy="5857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416" y="2308027"/>
            <a:ext cx="4813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Scoring</a:t>
            </a:r>
            <a:endParaRPr lang="en-US" sz="610" dirty="0"/>
          </a:p>
        </p:txBody>
      </p:sp>
      <p:sp>
        <p:nvSpPr>
          <p:cNvPr id="12" name="Text 10"/>
          <p:cNvSpPr/>
          <p:nvPr/>
        </p:nvSpPr>
        <p:spPr>
          <a:xfrm>
            <a:off x="731416" y="2454994"/>
            <a:ext cx="239250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5 = most recently active top 20%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731416" y="2598986"/>
            <a:ext cx="222312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1 = most dormant bottom 20%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3255206" y="783245"/>
            <a:ext cx="2624138" cy="220027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2618" y="946696"/>
            <a:ext cx="78433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DIMENSION 02</a:t>
            </a:r>
            <a:endParaRPr lang="en-US" sz="610" dirty="0"/>
          </a:p>
        </p:txBody>
      </p:sp>
      <p:sp>
        <p:nvSpPr>
          <p:cNvPr id="16" name="Text 14"/>
          <p:cNvSpPr/>
          <p:nvPr/>
        </p:nvSpPr>
        <p:spPr>
          <a:xfrm>
            <a:off x="3442618" y="1173659"/>
            <a:ext cx="25120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160" b="1" spc="-8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3442618" y="1638374"/>
            <a:ext cx="7971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442618" y="1849636"/>
            <a:ext cx="2534811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of distinct non-canceled orders per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customer_unique_id.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443325" y="2230227"/>
            <a:ext cx="2247900" cy="595313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61" y="2317552"/>
            <a:ext cx="16932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Custom CASE (skew handling)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3538761" y="2464519"/>
            <a:ext cx="224982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 &gt;= 4: Score 5 | freq = 3: Score 4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3538761" y="2608511"/>
            <a:ext cx="21096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 = 2: Score 3 | freq = 1: Score 1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6062551" y="783245"/>
            <a:ext cx="2624138" cy="220027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9963" y="946696"/>
            <a:ext cx="78433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DIMENSION 03</a:t>
            </a:r>
            <a:endParaRPr lang="en-US" sz="610" dirty="0"/>
          </a:p>
        </p:txBody>
      </p:sp>
      <p:sp>
        <p:nvSpPr>
          <p:cNvPr id="25" name="Text 23"/>
          <p:cNvSpPr/>
          <p:nvPr/>
        </p:nvSpPr>
        <p:spPr>
          <a:xfrm>
            <a:off x="6249963" y="1173659"/>
            <a:ext cx="38383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2160" b="1" spc="-8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160" dirty="0"/>
          </a:p>
        </p:txBody>
      </p:sp>
      <p:sp>
        <p:nvSpPr>
          <p:cNvPr id="26" name="Text 24"/>
          <p:cNvSpPr/>
          <p:nvPr/>
        </p:nvSpPr>
        <p:spPr>
          <a:xfrm>
            <a:off x="6249963" y="1638374"/>
            <a:ext cx="7330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Monetary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249963" y="1849636"/>
            <a:ext cx="2827734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expenditure: SUM of price + freight_value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orders.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6250670" y="2230227"/>
            <a:ext cx="2247900" cy="595313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6106" y="2317552"/>
            <a:ext cx="4813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Scoring</a:t>
            </a:r>
            <a:endParaRPr lang="en-US" sz="610" dirty="0"/>
          </a:p>
        </p:txBody>
      </p:sp>
      <p:sp>
        <p:nvSpPr>
          <p:cNvPr id="30" name="Text 28"/>
          <p:cNvSpPr/>
          <p:nvPr/>
        </p:nvSpPr>
        <p:spPr>
          <a:xfrm>
            <a:off x="6346106" y="2464519"/>
            <a:ext cx="222099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5 = top 20% highest spenders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6346106" y="2608511"/>
            <a:ext cx="237103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1 = bottom 20% lowest spenders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57200" y="3173388"/>
            <a:ext cx="18625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610" b="1" spc="61" kern="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ASSIGNMENT RULES</a:t>
            </a:r>
            <a:endParaRPr lang="en-US" sz="610" dirty="0"/>
          </a:p>
        </p:txBody>
      </p:sp>
      <p:sp>
        <p:nvSpPr>
          <p:cNvPr id="33" name="Shape 31"/>
          <p:cNvSpPr/>
          <p:nvPr/>
        </p:nvSpPr>
        <p:spPr>
          <a:xfrm>
            <a:off x="457795" y="3357116"/>
            <a:ext cx="1571625" cy="452437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548580" y="3458394"/>
            <a:ext cx="78288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548580" y="3620319"/>
            <a:ext cx="17539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 &gt;= 4 AND F &gt;= 4 AND M &gt;= 4</a:t>
            </a:r>
            <a:endParaRPr lang="en-US" sz="610" dirty="0"/>
          </a:p>
        </p:txBody>
      </p:sp>
      <p:sp>
        <p:nvSpPr>
          <p:cNvPr id="36" name="Shape 34"/>
          <p:cNvSpPr/>
          <p:nvPr/>
        </p:nvSpPr>
        <p:spPr>
          <a:xfrm>
            <a:off x="2121991" y="3357116"/>
            <a:ext cx="1571625" cy="452437"/>
          </a:xfrm>
          <a:prstGeom prst="rect">
            <a:avLst/>
          </a:prstGeom>
          <a:ln/>
        </p:spPr>
      </p:sp>
      <p:sp>
        <p:nvSpPr>
          <p:cNvPr id="37" name="Text 35"/>
          <p:cNvSpPr/>
          <p:nvPr/>
        </p:nvSpPr>
        <p:spPr>
          <a:xfrm>
            <a:off x="2212777" y="3458394"/>
            <a:ext cx="39757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790" dirty="0"/>
          </a:p>
        </p:txBody>
      </p:sp>
      <p:sp>
        <p:nvSpPr>
          <p:cNvPr id="38" name="Text 36"/>
          <p:cNvSpPr/>
          <p:nvPr/>
        </p:nvSpPr>
        <p:spPr>
          <a:xfrm>
            <a:off x="2212777" y="3620319"/>
            <a:ext cx="10873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 &gt;= 3 AND F &gt;= 3</a:t>
            </a:r>
            <a:endParaRPr lang="en-US" sz="610" dirty="0"/>
          </a:p>
        </p:txBody>
      </p:sp>
      <p:sp>
        <p:nvSpPr>
          <p:cNvPr id="39" name="Shape 37"/>
          <p:cNvSpPr/>
          <p:nvPr/>
        </p:nvSpPr>
        <p:spPr>
          <a:xfrm>
            <a:off x="3786188" y="3357116"/>
            <a:ext cx="1571625" cy="452437"/>
          </a:xfrm>
          <a:prstGeom prst="rect">
            <a:avLst/>
          </a:prstGeom>
          <a:ln/>
        </p:spPr>
      </p:sp>
      <p:sp>
        <p:nvSpPr>
          <p:cNvPr id="40" name="Text 38"/>
          <p:cNvSpPr/>
          <p:nvPr/>
        </p:nvSpPr>
        <p:spPr>
          <a:xfrm>
            <a:off x="3876973" y="3458394"/>
            <a:ext cx="50030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790" dirty="0"/>
          </a:p>
        </p:txBody>
      </p:sp>
      <p:sp>
        <p:nvSpPr>
          <p:cNvPr id="41" name="Text 39"/>
          <p:cNvSpPr/>
          <p:nvPr/>
        </p:nvSpPr>
        <p:spPr>
          <a:xfrm>
            <a:off x="3876973" y="3620319"/>
            <a:ext cx="10873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 &lt;= 2 AND F &gt;= 3</a:t>
            </a:r>
            <a:endParaRPr lang="en-US" sz="610" dirty="0"/>
          </a:p>
        </p:txBody>
      </p:sp>
      <p:sp>
        <p:nvSpPr>
          <p:cNvPr id="42" name="Shape 40"/>
          <p:cNvSpPr/>
          <p:nvPr/>
        </p:nvSpPr>
        <p:spPr>
          <a:xfrm>
            <a:off x="5450384" y="3357116"/>
            <a:ext cx="1571625" cy="452437"/>
          </a:xfrm>
          <a:prstGeom prst="rect">
            <a:avLst/>
          </a:prstGeom>
          <a:ln/>
        </p:spPr>
      </p:sp>
      <p:sp>
        <p:nvSpPr>
          <p:cNvPr id="43" name="Text 41"/>
          <p:cNvSpPr/>
          <p:nvPr/>
        </p:nvSpPr>
        <p:spPr>
          <a:xfrm>
            <a:off x="5541169" y="3458394"/>
            <a:ext cx="3322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5541169" y="3620319"/>
            <a:ext cx="9662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 = 1 AND F = 1</a:t>
            </a:r>
            <a:endParaRPr lang="en-US" sz="610" dirty="0"/>
          </a:p>
        </p:txBody>
      </p:sp>
      <p:sp>
        <p:nvSpPr>
          <p:cNvPr id="45" name="Shape 43"/>
          <p:cNvSpPr/>
          <p:nvPr/>
        </p:nvSpPr>
        <p:spPr>
          <a:xfrm>
            <a:off x="7114580" y="3357116"/>
            <a:ext cx="1571625" cy="452437"/>
          </a:xfrm>
          <a:prstGeom prst="rect">
            <a:avLst/>
          </a:prstGeom>
          <a:ln/>
        </p:spPr>
      </p:sp>
      <p:sp>
        <p:nvSpPr>
          <p:cNvPr id="46" name="Text 44"/>
          <p:cNvSpPr/>
          <p:nvPr/>
        </p:nvSpPr>
        <p:spPr>
          <a:xfrm>
            <a:off x="7205365" y="3458394"/>
            <a:ext cx="49169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790" dirty="0"/>
          </a:p>
        </p:txBody>
      </p:sp>
      <p:sp>
        <p:nvSpPr>
          <p:cNvPr id="47" name="Text 45"/>
          <p:cNvSpPr/>
          <p:nvPr/>
        </p:nvSpPr>
        <p:spPr>
          <a:xfrm>
            <a:off x="7205365" y="3620319"/>
            <a:ext cx="16327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All remaining combinations</a:t>
            </a:r>
            <a:endParaRPr lang="en-US" sz="610" dirty="0"/>
          </a:p>
        </p:txBody>
      </p:sp>
      <p:sp>
        <p:nvSpPr>
          <p:cNvPr id="48" name="Shape 46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49" name="Text 47"/>
          <p:cNvSpPr/>
          <p:nvPr/>
        </p:nvSpPr>
        <p:spPr>
          <a:xfrm>
            <a:off x="457200" y="4767635"/>
            <a:ext cx="268678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RFM Framework / RFM Customer Segmentation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57200" y="223838"/>
            <a:ext cx="486678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RFM Scoring Framework</a:t>
            </a:r>
            <a:endParaRPr lang="en-US" sz="2520" dirty="0"/>
          </a:p>
        </p:txBody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795" y="3357116"/>
            <a:ext cx="1571625" cy="452437"/>
          </a:xfrm>
          <a:prstGeom prst="rect">
            <a:avLst/>
          </a:prstGeom>
        </p:spPr>
      </p:pic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1991" y="3357116"/>
            <a:ext cx="1571625" cy="452437"/>
          </a:xfrm>
          <a:prstGeom prst="rect">
            <a:avLst/>
          </a:prstGeom>
        </p:spPr>
      </p:pic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86188" y="3357116"/>
            <a:ext cx="1571625" cy="452437"/>
          </a:xfrm>
          <a:prstGeom prst="rect">
            <a:avLst/>
          </a:prstGeom>
        </p:spPr>
      </p:pic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0384" y="3357116"/>
            <a:ext cx="1571625" cy="452437"/>
          </a:xfrm>
          <a:prstGeom prst="rect">
            <a:avLst/>
          </a:prstGeom>
        </p:spPr>
      </p:pic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4580" y="3357116"/>
            <a:ext cx="1571625" cy="452437"/>
          </a:xfrm>
          <a:prstGeom prst="rect">
            <a:avLst/>
          </a:prstGeom>
        </p:spPr>
      </p:pic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1828800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801960"/>
            <a:ext cx="7983885" cy="344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interactive Tableau dashboard delivers four analytical panels — enabling CRM teams to monitor</a:t>
            </a:r>
            <a:endParaRPr lang="en-US" sz="101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health, revenue concentration, and ARPU in real time.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456754" y="1347713"/>
            <a:ext cx="4024312" cy="159067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798" y="1494532"/>
            <a:ext cx="21706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Revenue Distribution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3897957" y="1485007"/>
            <a:ext cx="57073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Bar Chart</a:t>
            </a:r>
            <a:endParaRPr lang="en-US" sz="580" dirty="0"/>
          </a:p>
        </p:txBody>
      </p:sp>
      <p:sp>
        <p:nvSpPr>
          <p:cNvPr id="9" name="Shape 7"/>
          <p:cNvSpPr/>
          <p:nvPr/>
        </p:nvSpPr>
        <p:spPr>
          <a:xfrm>
            <a:off x="644872" y="1721941"/>
            <a:ext cx="3648075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44798" y="1813322"/>
            <a:ext cx="474150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 bar displaying gross revenue per segment. Champions (R$ 4.09M) and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(R$ 5.05M) dominate — visualizing 58.10% revenue concentration at a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glance.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56754" y="3042865"/>
            <a:ext cx="4024312" cy="1590675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798" y="3189684"/>
            <a:ext cx="20643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Count by Segment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810223" y="3180159"/>
            <a:ext cx="68478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Donut Chart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644872" y="3417094"/>
            <a:ext cx="3648075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798" y="3508474"/>
            <a:ext cx="4714711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Proportional donut chart of customer volume per segment. Loyal (43.94%) and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(26.74%) represent the largest cohorts by headcount.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663008" y="1347713"/>
            <a:ext cx="4024312" cy="1595437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1053" y="1494532"/>
            <a:ext cx="13383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 Comparison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7797031" y="1485007"/>
            <a:ext cx="97006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Ranked Bar Chart</a:t>
            </a:r>
            <a:endParaRPr lang="en-US" sz="580" dirty="0"/>
          </a:p>
        </p:txBody>
      </p:sp>
      <p:sp>
        <p:nvSpPr>
          <p:cNvPr id="19" name="Shape 17"/>
          <p:cNvSpPr/>
          <p:nvPr/>
        </p:nvSpPr>
        <p:spPr>
          <a:xfrm>
            <a:off x="4851127" y="1721941"/>
            <a:ext cx="3648075" cy="47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851053" y="1813322"/>
            <a:ext cx="4619521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horizontal bars show Champions at R$ 306.21 ARPU — 1.85x the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average — versus Loyal at R$ 121.10, revealing the monetization gap.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663008" y="3047628"/>
            <a:ext cx="4024312" cy="15859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290" y="3189684"/>
            <a:ext cx="15093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Recency Distribution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108975" y="3180159"/>
            <a:ext cx="57073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Histogram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4846365" y="3417094"/>
            <a:ext cx="3657600" cy="4763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290" y="3508474"/>
            <a:ext cx="4541647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Day-gap distribution across all 94,989 customers — shows the bimodal split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recently active buyers and dormant Lost accounts. Alerts CRM to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inactivity thresholds.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57200" y="4767635"/>
            <a:ext cx="10192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Live Dashboard: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334393" y="4767635"/>
            <a:ext cx="40336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public.tableau.com/views/RFMAnalysis_17734745913220/Dashboard4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9" name="Text 27"/>
          <p:cNvSpPr/>
          <p:nvPr/>
        </p:nvSpPr>
        <p:spPr>
          <a:xfrm>
            <a:off x="457200" y="4767635"/>
            <a:ext cx="24302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Dashboard / RFM Customer Segmentation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0" y="223838"/>
            <a:ext cx="488061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Walkthrough</a:t>
            </a:r>
            <a:endParaRPr lang="en-US" sz="252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2286000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7200" y="782538"/>
            <a:ext cx="8229600" cy="27146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594345" y="864766"/>
            <a:ext cx="4813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SEGMENT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1818233" y="864766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CUSTOMERS</a:t>
            </a:r>
            <a:endParaRPr lang="en-US" sz="610" dirty="0"/>
          </a:p>
        </p:txBody>
      </p:sp>
      <p:sp>
        <p:nvSpPr>
          <p:cNvPr id="8" name="Text 6"/>
          <p:cNvSpPr/>
          <p:nvPr/>
        </p:nvSpPr>
        <p:spPr>
          <a:xfrm>
            <a:off x="2838152" y="864766"/>
            <a:ext cx="36023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SHARE</a:t>
            </a:r>
            <a:endParaRPr lang="en-US" sz="610" dirty="0"/>
          </a:p>
        </p:txBody>
      </p:sp>
      <p:sp>
        <p:nvSpPr>
          <p:cNvPr id="9" name="Text 7"/>
          <p:cNvSpPr/>
          <p:nvPr/>
        </p:nvSpPr>
        <p:spPr>
          <a:xfrm>
            <a:off x="3654103" y="864766"/>
            <a:ext cx="8449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TOTAL REVENUE</a:t>
            </a:r>
            <a:endParaRPr lang="en-US" sz="610" dirty="0"/>
          </a:p>
        </p:txBody>
      </p:sp>
      <p:sp>
        <p:nvSpPr>
          <p:cNvPr id="10" name="Text 8"/>
          <p:cNvSpPr/>
          <p:nvPr/>
        </p:nvSpPr>
        <p:spPr>
          <a:xfrm>
            <a:off x="4877991" y="864766"/>
            <a:ext cx="36023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REV %</a:t>
            </a:r>
            <a:endParaRPr lang="en-US" sz="610" dirty="0"/>
          </a:p>
        </p:txBody>
      </p:sp>
      <p:sp>
        <p:nvSpPr>
          <p:cNvPr id="11" name="Text 9"/>
          <p:cNvSpPr/>
          <p:nvPr/>
        </p:nvSpPr>
        <p:spPr>
          <a:xfrm>
            <a:off x="5693941" y="864766"/>
            <a:ext cx="29957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</a:t>
            </a:r>
            <a:endParaRPr lang="en-US" sz="610" dirty="0"/>
          </a:p>
        </p:txBody>
      </p:sp>
      <p:sp>
        <p:nvSpPr>
          <p:cNvPr id="12" name="Text 10"/>
          <p:cNvSpPr/>
          <p:nvPr/>
        </p:nvSpPr>
        <p:spPr>
          <a:xfrm>
            <a:off x="6713860" y="864766"/>
            <a:ext cx="9662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STRATEGIC FOCUS</a:t>
            </a:r>
            <a:endParaRPr lang="en-US" sz="610" dirty="0"/>
          </a:p>
        </p:txBody>
      </p:sp>
      <p:sp>
        <p:nvSpPr>
          <p:cNvPr id="13" name="Shape 11"/>
          <p:cNvSpPr/>
          <p:nvPr/>
        </p:nvSpPr>
        <p:spPr>
          <a:xfrm>
            <a:off x="457200" y="1054410"/>
            <a:ext cx="8229600" cy="476250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594345" y="1170756"/>
            <a:ext cx="81625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94345" y="1318915"/>
            <a:ext cx="97006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R&gt;=4, F&gt;=4, M&gt;=4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1818233" y="1219423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13,354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2838152" y="1219423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14.06%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3654103" y="1219423"/>
            <a:ext cx="9982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R$ 4,089,088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4877991" y="1219423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25.98%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5693941" y="1219423"/>
            <a:ext cx="762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R$ 306.21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6713860" y="1231106"/>
            <a:ext cx="19252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Retention &amp; Exclusive Access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57200" y="1532223"/>
            <a:ext cx="8229600" cy="476250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594345" y="1648569"/>
            <a:ext cx="4132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94345" y="1796728"/>
            <a:ext cx="62780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R&gt;=3, F&gt;=3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1818233" y="1697236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41,740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2838152" y="1697236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43.94%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3654103" y="1697236"/>
            <a:ext cx="9982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R$ 5,054,591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4877991" y="1697236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32.12%</a:t>
            </a:r>
            <a:endParaRPr lang="en-US" sz="790" dirty="0"/>
          </a:p>
        </p:txBody>
      </p:sp>
      <p:sp>
        <p:nvSpPr>
          <p:cNvPr id="29" name="Text 27"/>
          <p:cNvSpPr/>
          <p:nvPr/>
        </p:nvSpPr>
        <p:spPr>
          <a:xfrm>
            <a:off x="5693941" y="1697236"/>
            <a:ext cx="762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R$ 121.10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6713860" y="1708919"/>
            <a:ext cx="14786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Cross-Selling &amp; Upselling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57200" y="2010035"/>
            <a:ext cx="8229600" cy="476250"/>
          </a:xfrm>
          <a:prstGeom prst="rect">
            <a:avLst/>
          </a:prstGeom>
          <a:ln/>
        </p:spPr>
      </p:sp>
      <p:sp>
        <p:nvSpPr>
          <p:cNvPr id="32" name="Text 30"/>
          <p:cNvSpPr/>
          <p:nvPr/>
        </p:nvSpPr>
        <p:spPr>
          <a:xfrm>
            <a:off x="594345" y="2126382"/>
            <a:ext cx="51172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94345" y="2274540"/>
            <a:ext cx="97006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All other combos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1818233" y="2175049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25,402</a:t>
            </a:r>
            <a:endParaRPr lang="en-US" sz="790" dirty="0"/>
          </a:p>
        </p:txBody>
      </p:sp>
      <p:sp>
        <p:nvSpPr>
          <p:cNvPr id="35" name="Text 33"/>
          <p:cNvSpPr/>
          <p:nvPr/>
        </p:nvSpPr>
        <p:spPr>
          <a:xfrm>
            <a:off x="2838152" y="2175049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26.74%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3654103" y="2175049"/>
            <a:ext cx="9982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R$ 4,092,320</a:t>
            </a:r>
            <a:endParaRPr lang="en-US" sz="790" dirty="0"/>
          </a:p>
        </p:txBody>
      </p:sp>
      <p:sp>
        <p:nvSpPr>
          <p:cNvPr id="37" name="Text 35"/>
          <p:cNvSpPr/>
          <p:nvPr/>
        </p:nvSpPr>
        <p:spPr>
          <a:xfrm>
            <a:off x="4877991" y="2175049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26.00%</a:t>
            </a:r>
            <a:endParaRPr lang="en-US" sz="790" dirty="0"/>
          </a:p>
        </p:txBody>
      </p:sp>
      <p:sp>
        <p:nvSpPr>
          <p:cNvPr id="38" name="Text 36"/>
          <p:cNvSpPr/>
          <p:nvPr/>
        </p:nvSpPr>
        <p:spPr>
          <a:xfrm>
            <a:off x="5693941" y="2175049"/>
            <a:ext cx="762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R$ 161.10</a:t>
            </a:r>
            <a:endParaRPr lang="en-US" sz="790" dirty="0"/>
          </a:p>
        </p:txBody>
      </p:sp>
      <p:sp>
        <p:nvSpPr>
          <p:cNvPr id="39" name="Text 37"/>
          <p:cNvSpPr/>
          <p:nvPr/>
        </p:nvSpPr>
        <p:spPr>
          <a:xfrm>
            <a:off x="6713860" y="2186732"/>
            <a:ext cx="14392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Nurturing &amp; Engagement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57200" y="2487848"/>
            <a:ext cx="8229600" cy="476250"/>
          </a:xfrm>
          <a:prstGeom prst="rect">
            <a:avLst/>
          </a:prstGeom>
          <a:ln/>
        </p:spPr>
      </p:sp>
      <p:sp>
        <p:nvSpPr>
          <p:cNvPr id="41" name="Text 39"/>
          <p:cNvSpPr/>
          <p:nvPr/>
        </p:nvSpPr>
        <p:spPr>
          <a:xfrm>
            <a:off x="594345" y="2604195"/>
            <a:ext cx="34494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594345" y="2752353"/>
            <a:ext cx="51365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R=1, F=1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1818233" y="2652861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12,593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2838152" y="2652861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13.26%</a:t>
            </a:r>
            <a:endParaRPr lang="en-US" sz="790" dirty="0"/>
          </a:p>
        </p:txBody>
      </p:sp>
      <p:sp>
        <p:nvSpPr>
          <p:cNvPr id="45" name="Text 43"/>
          <p:cNvSpPr/>
          <p:nvPr/>
        </p:nvSpPr>
        <p:spPr>
          <a:xfrm>
            <a:off x="3654103" y="2652861"/>
            <a:ext cx="9982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R$ 2,073,734</a:t>
            </a:r>
            <a:endParaRPr lang="en-US" sz="790" dirty="0"/>
          </a:p>
        </p:txBody>
      </p:sp>
      <p:sp>
        <p:nvSpPr>
          <p:cNvPr id="46" name="Text 44"/>
          <p:cNvSpPr/>
          <p:nvPr/>
        </p:nvSpPr>
        <p:spPr>
          <a:xfrm>
            <a:off x="4877991" y="2652861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13.18%</a:t>
            </a:r>
            <a:endParaRPr lang="en-US" sz="790" dirty="0"/>
          </a:p>
        </p:txBody>
      </p:sp>
      <p:sp>
        <p:nvSpPr>
          <p:cNvPr id="47" name="Text 45"/>
          <p:cNvSpPr/>
          <p:nvPr/>
        </p:nvSpPr>
        <p:spPr>
          <a:xfrm>
            <a:off x="5693941" y="2652861"/>
            <a:ext cx="762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R$ 164.67</a:t>
            </a:r>
            <a:endParaRPr lang="en-US" sz="790" dirty="0"/>
          </a:p>
        </p:txBody>
      </p:sp>
      <p:sp>
        <p:nvSpPr>
          <p:cNvPr id="48" name="Text 46"/>
          <p:cNvSpPr/>
          <p:nvPr/>
        </p:nvSpPr>
        <p:spPr>
          <a:xfrm>
            <a:off x="6713860" y="2664544"/>
            <a:ext cx="12797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Win-Back Automation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457200" y="2965661"/>
            <a:ext cx="8229600" cy="471488"/>
          </a:xfrm>
          <a:prstGeom prst="rect">
            <a:avLst/>
          </a:prstGeom>
          <a:solidFill>
            <a:srgbClr val="FFF9F5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45" y="3082007"/>
            <a:ext cx="52062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594345" y="3230166"/>
            <a:ext cx="62780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R&lt;=2, F&gt;=3</a:t>
            </a:r>
            <a:endParaRPr lang="en-US" sz="580" dirty="0"/>
          </a:p>
        </p:txBody>
      </p:sp>
      <p:sp>
        <p:nvSpPr>
          <p:cNvPr id="52" name="Text 50"/>
          <p:cNvSpPr/>
          <p:nvPr/>
        </p:nvSpPr>
        <p:spPr>
          <a:xfrm>
            <a:off x="1818233" y="3130674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1,900</a:t>
            </a:r>
            <a:endParaRPr lang="en-US" sz="790" dirty="0"/>
          </a:p>
        </p:txBody>
      </p:sp>
      <p:sp>
        <p:nvSpPr>
          <p:cNvPr id="53" name="Text 51"/>
          <p:cNvSpPr/>
          <p:nvPr/>
        </p:nvSpPr>
        <p:spPr>
          <a:xfrm>
            <a:off x="2838152" y="3130674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2.00%</a:t>
            </a:r>
            <a:endParaRPr lang="en-US" sz="790" dirty="0"/>
          </a:p>
        </p:txBody>
      </p:sp>
      <p:sp>
        <p:nvSpPr>
          <p:cNvPr id="54" name="Text 52"/>
          <p:cNvSpPr/>
          <p:nvPr/>
        </p:nvSpPr>
        <p:spPr>
          <a:xfrm>
            <a:off x="3654103" y="3130674"/>
            <a:ext cx="84131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R$ 427,933</a:t>
            </a:r>
            <a:endParaRPr lang="en-US" sz="790" dirty="0"/>
          </a:p>
        </p:txBody>
      </p:sp>
      <p:sp>
        <p:nvSpPr>
          <p:cNvPr id="55" name="Text 53"/>
          <p:cNvSpPr/>
          <p:nvPr/>
        </p:nvSpPr>
        <p:spPr>
          <a:xfrm>
            <a:off x="4877991" y="3130674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4A5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2.72%</a:t>
            </a:r>
            <a:endParaRPr lang="en-US" sz="790" dirty="0"/>
          </a:p>
        </p:txBody>
      </p:sp>
      <p:sp>
        <p:nvSpPr>
          <p:cNvPr id="56" name="Text 54"/>
          <p:cNvSpPr/>
          <p:nvPr/>
        </p:nvSpPr>
        <p:spPr>
          <a:xfrm>
            <a:off x="5693941" y="3130674"/>
            <a:ext cx="762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R$ 225.23</a:t>
            </a:r>
            <a:endParaRPr lang="en-US" sz="790" dirty="0"/>
          </a:p>
        </p:txBody>
      </p:sp>
      <p:sp>
        <p:nvSpPr>
          <p:cNvPr id="57" name="Text 55"/>
          <p:cNvSpPr/>
          <p:nvPr/>
        </p:nvSpPr>
        <p:spPr>
          <a:xfrm>
            <a:off x="6713860" y="3142357"/>
            <a:ext cx="11621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Reactivation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57200" y="3437000"/>
            <a:ext cx="8229600" cy="30956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45" y="3534073"/>
            <a:ext cx="4646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760" dirty="0"/>
          </a:p>
        </p:txBody>
      </p:sp>
      <p:sp>
        <p:nvSpPr>
          <p:cNvPr id="60" name="Text 58"/>
          <p:cNvSpPr/>
          <p:nvPr/>
        </p:nvSpPr>
        <p:spPr>
          <a:xfrm>
            <a:off x="1818233" y="3534073"/>
            <a:ext cx="50640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94,989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2838152" y="3534073"/>
            <a:ext cx="58127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100.00%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3654103" y="3534073"/>
            <a:ext cx="103053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R$ 15,737,667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4877991" y="3534073"/>
            <a:ext cx="58127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100.00%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5693941" y="3534073"/>
            <a:ext cx="73102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R$ 165.68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66" name="Text 64"/>
          <p:cNvSpPr/>
          <p:nvPr/>
        </p:nvSpPr>
        <p:spPr>
          <a:xfrm>
            <a:off x="457200" y="4767635"/>
            <a:ext cx="236609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Segments / RFM Customer Segmentation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57200" y="223838"/>
            <a:ext cx="620283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 Breakdown</a:t>
            </a:r>
            <a:endParaRPr lang="en-US" sz="2520" dirty="0"/>
          </a:p>
        </p:txBody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54410"/>
            <a:ext cx="8229600" cy="476250"/>
          </a:xfrm>
          <a:prstGeom prst="rect">
            <a:avLst/>
          </a:prstGeom>
        </p:spPr>
      </p:pic>
      <p:pic>
        <p:nvPicPr>
          <p:cNvPr id="7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532223"/>
            <a:ext cx="8229600" cy="476250"/>
          </a:xfrm>
          <a:prstGeom prst="rect">
            <a:avLst/>
          </a:prstGeom>
        </p:spPr>
      </p:pic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010035"/>
            <a:ext cx="8229600" cy="476250"/>
          </a:xfrm>
          <a:prstGeom prst="rect">
            <a:avLst/>
          </a:prstGeom>
        </p:spPr>
      </p:pic>
      <p:pic>
        <p:nvPicPr>
          <p:cNvPr id="7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487848"/>
            <a:ext cx="8229600" cy="476250"/>
          </a:xfrm>
          <a:prstGeom prst="rect">
            <a:avLst/>
          </a:prstGeom>
        </p:spPr>
      </p:pic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3437000"/>
            <a:ext cx="8229600" cy="309562"/>
          </a:xfrm>
          <a:prstGeom prst="rect">
            <a:avLst/>
          </a:prstGeom>
        </p:spPr>
      </p:pic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266" y="335198"/>
            <a:ext cx="1462088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8167" y="834814"/>
            <a:ext cx="2619375" cy="106203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35" y="993428"/>
            <a:ext cx="6632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 01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640035" y="1108993"/>
            <a:ext cx="1598191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3240" b="1" spc="-1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58.1%</a:t>
            </a:r>
            <a:endParaRPr lang="en-US" sz="3240" dirty="0"/>
          </a:p>
        </p:txBody>
      </p:sp>
      <p:sp>
        <p:nvSpPr>
          <p:cNvPr id="8" name="Text 6"/>
          <p:cNvSpPr/>
          <p:nvPr/>
        </p:nvSpPr>
        <p:spPr>
          <a:xfrm>
            <a:off x="640035" y="1624310"/>
            <a:ext cx="19812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of revenue from top 2 segments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58167" y="1896368"/>
            <a:ext cx="2619375" cy="2990850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644798" y="2040136"/>
            <a:ext cx="20218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Concentration Risk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44798" y="2281833"/>
            <a:ext cx="289816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and Champions together generate R$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9.14M despite comprising 58% of users.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 deliver R$ 306.21 ARPU — 2.53x the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cohort at R$ 121.10. Any churn from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 has outsized P&amp;L impact.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262313" y="834814"/>
            <a:ext cx="2619375" cy="1071563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8943" y="998190"/>
            <a:ext cx="6632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 02</a:t>
            </a:r>
            <a:endParaRPr lang="en-US" sz="610" dirty="0"/>
          </a:p>
        </p:txBody>
      </p:sp>
      <p:sp>
        <p:nvSpPr>
          <p:cNvPr id="14" name="Text 12"/>
          <p:cNvSpPr/>
          <p:nvPr/>
        </p:nvSpPr>
        <p:spPr>
          <a:xfrm>
            <a:off x="3448943" y="1113755"/>
            <a:ext cx="2129961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3240" b="1" spc="-130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R$ 2.5M</a:t>
            </a:r>
            <a:endParaRPr lang="en-US" sz="3240" dirty="0"/>
          </a:p>
        </p:txBody>
      </p:sp>
      <p:sp>
        <p:nvSpPr>
          <p:cNvPr id="15" name="Text 13"/>
          <p:cNvSpPr/>
          <p:nvPr/>
        </p:nvSpPr>
        <p:spPr>
          <a:xfrm>
            <a:off x="3448943" y="1629073"/>
            <a:ext cx="17888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total revenue at churn risk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62313" y="1905893"/>
            <a:ext cx="2619375" cy="2981325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3448943" y="2049661"/>
            <a:ext cx="19427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Churn Exposure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448943" y="2291358"/>
            <a:ext cx="2937339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 At-Risk users (ARPU R$ 225.23) represent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R$ 427.93K in exposed revenue. The 12,593 Lost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hold a further R$ 2.07M — totaling R$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2.5M in reachable historical equity awaiting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re-engagement.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6066458" y="834814"/>
            <a:ext cx="2619375" cy="1071563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3088" y="998190"/>
            <a:ext cx="6632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 03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6253088" y="1113755"/>
            <a:ext cx="172714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3240" b="1" spc="-130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90%</a:t>
            </a:r>
            <a:endParaRPr lang="en-US" sz="3240" dirty="0"/>
          </a:p>
        </p:txBody>
      </p:sp>
      <p:sp>
        <p:nvSpPr>
          <p:cNvPr id="22" name="Text 20"/>
          <p:cNvSpPr/>
          <p:nvPr/>
        </p:nvSpPr>
        <p:spPr>
          <a:xfrm>
            <a:off x="6253088" y="1629073"/>
            <a:ext cx="17888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customers have only 1 order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066458" y="1905893"/>
            <a:ext cx="2619375" cy="2981325"/>
          </a:xfrm>
          <a:prstGeom prst="rect">
            <a:avLst/>
          </a:prstGeom>
          <a:ln/>
        </p:spPr>
      </p:sp>
      <p:sp>
        <p:nvSpPr>
          <p:cNvPr id="24" name="Text 22"/>
          <p:cNvSpPr/>
          <p:nvPr/>
        </p:nvSpPr>
        <p:spPr>
          <a:xfrm>
            <a:off x="6253088" y="2049661"/>
            <a:ext cx="251527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6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Single-Transaction Structural Skew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253088" y="2291358"/>
            <a:ext cx="2852983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just 5% of single-order buyers into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purchase cohorts generates exponential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growth — at zero incremental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acquisition cost. This is the highest-ROI lever in</a:t>
            </a:r>
            <a:endParaRPr lang="en-US" sz="760" dirty="0"/>
          </a:p>
          <a:p>
            <a:pPr algn="l" indent="0" marL="0">
              <a:lnSpc>
                <a:spcPts val="1209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entire model.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457200" y="4767635"/>
            <a:ext cx="29433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Business Insights / RFM Customer Segmentation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223838"/>
            <a:ext cx="356178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Insights</a:t>
            </a:r>
            <a:endParaRPr lang="en-US" sz="252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167" y="1896368"/>
            <a:ext cx="2619375" cy="299085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313" y="1905893"/>
            <a:ext cx="2619375" cy="2981325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6458" y="1905893"/>
            <a:ext cx="2619375" cy="2981325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336" y="335198"/>
            <a:ext cx="2195513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7200" y="782538"/>
            <a:ext cx="8229600" cy="27146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594345" y="864766"/>
            <a:ext cx="4813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SEGMENT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1983358" y="864766"/>
            <a:ext cx="10267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REVENUE AT STAKE</a:t>
            </a:r>
            <a:endParaRPr lang="en-US" sz="610" dirty="0"/>
          </a:p>
        </p:txBody>
      </p:sp>
      <p:sp>
        <p:nvSpPr>
          <p:cNvPr id="8" name="Text 6"/>
          <p:cNvSpPr/>
          <p:nvPr/>
        </p:nvSpPr>
        <p:spPr>
          <a:xfrm>
            <a:off x="3246090" y="864766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OBJECTIVE</a:t>
            </a:r>
            <a:endParaRPr lang="en-US" sz="610" dirty="0"/>
          </a:p>
        </p:txBody>
      </p:sp>
      <p:sp>
        <p:nvSpPr>
          <p:cNvPr id="9" name="Text 7"/>
          <p:cNvSpPr/>
          <p:nvPr/>
        </p:nvSpPr>
        <p:spPr>
          <a:xfrm>
            <a:off x="4508822" y="864766"/>
            <a:ext cx="6632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CRM ACTION</a:t>
            </a:r>
            <a:endParaRPr lang="en-US" sz="610" dirty="0"/>
          </a:p>
        </p:txBody>
      </p:sp>
      <p:sp>
        <p:nvSpPr>
          <p:cNvPr id="10" name="Text 8"/>
          <p:cNvSpPr/>
          <p:nvPr/>
        </p:nvSpPr>
        <p:spPr>
          <a:xfrm>
            <a:off x="7034287" y="864766"/>
            <a:ext cx="4813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CHANNEL</a:t>
            </a:r>
            <a:endParaRPr lang="en-US" sz="610" dirty="0"/>
          </a:p>
        </p:txBody>
      </p:sp>
      <p:sp>
        <p:nvSpPr>
          <p:cNvPr id="11" name="Shape 9"/>
          <p:cNvSpPr/>
          <p:nvPr/>
        </p:nvSpPr>
        <p:spPr>
          <a:xfrm>
            <a:off x="457200" y="1053108"/>
            <a:ext cx="8229600" cy="485775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594345" y="1170756"/>
            <a:ext cx="78288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Champions</a:t>
            </a:r>
            <a:endParaRPr lang="en-US" sz="790" dirty="0"/>
          </a:p>
        </p:txBody>
      </p:sp>
      <p:sp>
        <p:nvSpPr>
          <p:cNvPr id="13" name="Text 11"/>
          <p:cNvSpPr/>
          <p:nvPr/>
        </p:nvSpPr>
        <p:spPr>
          <a:xfrm>
            <a:off x="594345" y="1312143"/>
            <a:ext cx="85601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R$ 306.21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983358" y="1161231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R$ 4.09M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246090" y="1165994"/>
            <a:ext cx="8105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Retention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508822" y="1165994"/>
            <a:ext cx="3311136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"Olist Select" VIP tier — early sale access, priority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support, product sneak peeks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034287" y="1165994"/>
            <a:ext cx="14963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WhatsApp VIP, Push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457200" y="1537841"/>
            <a:ext cx="8229600" cy="485775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594345" y="1655490"/>
            <a:ext cx="39757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594345" y="1796876"/>
            <a:ext cx="85601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R$ 121.10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1983358" y="1645965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R$ 5.05M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246090" y="1650727"/>
            <a:ext cx="11556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Expansion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508822" y="1650727"/>
            <a:ext cx="3209367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Cross-selling recommendation engine by past category;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shipping thresholds to lift AOV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7034287" y="1650727"/>
            <a:ext cx="148684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Email, In-App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57200" y="2022574"/>
            <a:ext cx="8229600" cy="485775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45" y="2140223"/>
            <a:ext cx="50030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594345" y="2281610"/>
            <a:ext cx="85601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R$ 225.23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983358" y="2130698"/>
            <a:ext cx="7699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R$ 427.93K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246090" y="2135460"/>
            <a:ext cx="116219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Reactivation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508822" y="2135460"/>
            <a:ext cx="3226586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"We Miss You" sequence — 15% time-bound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within 14 days of inactivity threshold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034287" y="2135460"/>
            <a:ext cx="13310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SMS, Retargeting, Email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57200" y="2507307"/>
            <a:ext cx="8229600" cy="485775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594345" y="2624956"/>
            <a:ext cx="33227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</a:t>
            </a:r>
            <a:endParaRPr lang="en-US" sz="790" dirty="0"/>
          </a:p>
        </p:txBody>
      </p:sp>
      <p:sp>
        <p:nvSpPr>
          <p:cNvPr id="34" name="Text 32"/>
          <p:cNvSpPr/>
          <p:nvPr/>
        </p:nvSpPr>
        <p:spPr>
          <a:xfrm>
            <a:off x="594345" y="2766343"/>
            <a:ext cx="85601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R$ 164.67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1983358" y="2615431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R$ 2.07M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246090" y="2620194"/>
            <a:ext cx="12797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Win-Back Automation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4508822" y="2620194"/>
            <a:ext cx="3149099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automated email sequences highlighting new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arrivals in previously purchased categories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7034287" y="2620194"/>
            <a:ext cx="132596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Email Triggers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594345" y="3109689"/>
            <a:ext cx="49169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790" dirty="0"/>
          </a:p>
        </p:txBody>
      </p:sp>
      <p:sp>
        <p:nvSpPr>
          <p:cNvPr id="40" name="Text 38"/>
          <p:cNvSpPr/>
          <p:nvPr/>
        </p:nvSpPr>
        <p:spPr>
          <a:xfrm>
            <a:off x="594345" y="3251076"/>
            <a:ext cx="85601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R$ 161.10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1983358" y="3100164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R$ 4.09M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3246090" y="3104927"/>
            <a:ext cx="5903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Nurturing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508822" y="3104927"/>
            <a:ext cx="2486055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drips, review incentives, and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second-purchase promotions to push into Loyal tier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034287" y="3104927"/>
            <a:ext cx="133274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Drips, Retargeting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46" name="Text 44"/>
          <p:cNvSpPr/>
          <p:nvPr/>
        </p:nvSpPr>
        <p:spPr>
          <a:xfrm>
            <a:off x="457200" y="4767635"/>
            <a:ext cx="28150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Recommendations / RFM Customer Segmentation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57200" y="223838"/>
            <a:ext cx="56715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Recommendations</a:t>
            </a:r>
            <a:endParaRPr lang="en-US" sz="252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53108"/>
            <a:ext cx="8229600" cy="485775"/>
          </a:xfrm>
          <a:prstGeom prst="rect">
            <a:avLst/>
          </a:prstGeom>
        </p:spPr>
      </p:pic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537841"/>
            <a:ext cx="8229600" cy="485775"/>
          </a:xfrm>
          <a:prstGeom prst="rect">
            <a:avLst/>
          </a:prstGeom>
        </p:spPr>
      </p:pic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022574"/>
            <a:ext cx="8229600" cy="485775"/>
          </a:xfrm>
          <a:prstGeom prst="rect">
            <a:avLst/>
          </a:prstGeom>
        </p:spPr>
      </p:pic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507307"/>
            <a:ext cx="8229600" cy="485775"/>
          </a:xfrm>
          <a:prstGeom prst="rect">
            <a:avLst/>
          </a:prstGeom>
        </p:spPr>
      </p:pic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5820" y="335198"/>
            <a:ext cx="2286000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457200" y="801960"/>
            <a:ext cx="7753357" cy="344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12-week phased deployment — sequenced from highest-value defense to long-tail recovery —</a:t>
            </a:r>
            <a:endParaRPr lang="en-US" sz="1010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01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minimizes risk while protecting the highest-margin revenue cohorts first.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458167" y="1372084"/>
            <a:ext cx="2619375" cy="3514725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457200" y="1520205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Weeks 1–4</a:t>
            </a:r>
            <a:endParaRPr lang="en-US" sz="610" dirty="0"/>
          </a:p>
        </p:txBody>
      </p:sp>
      <p:sp>
        <p:nvSpPr>
          <p:cNvPr id="8" name="Text 6"/>
          <p:cNvSpPr/>
          <p:nvPr/>
        </p:nvSpPr>
        <p:spPr>
          <a:xfrm>
            <a:off x="457200" y="1707207"/>
            <a:ext cx="82060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spc="-2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96008"/>
            <a:ext cx="1564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Defense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58167" y="2262708"/>
            <a:ext cx="2619375" cy="6000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08633" y="2354163"/>
            <a:ext cx="146856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Loyalty Concierge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608633" y="2520851"/>
            <a:ext cx="3064550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"Olist Select" for 13,354 Champions — early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access, priority support, exclusive rewards.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58167" y="2939728"/>
            <a:ext cx="2619375" cy="6000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608633" y="3031182"/>
            <a:ext cx="130488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Automation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608633" y="3197870"/>
            <a:ext cx="2836441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14-day inactivity alerts for 1,900 at-risk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with R$ 427.93K revenue exposure.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58167" y="4395974"/>
            <a:ext cx="2619375" cy="490537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45" y="4478015"/>
            <a:ext cx="108731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Revenue protected</a:t>
            </a:r>
            <a:endParaRPr lang="en-US" sz="610" dirty="0"/>
          </a:p>
        </p:txBody>
      </p:sp>
      <p:sp>
        <p:nvSpPr>
          <p:cNvPr id="18" name="Text 16"/>
          <p:cNvSpPr/>
          <p:nvPr/>
        </p:nvSpPr>
        <p:spPr>
          <a:xfrm>
            <a:off x="594345" y="4608835"/>
            <a:ext cx="94114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R$ 4.5M+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62313" y="1372084"/>
            <a:ext cx="2619375" cy="3514725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3261345" y="1520205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Weeks 5–8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3261345" y="1707207"/>
            <a:ext cx="86259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spc="-2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61345" y="1996008"/>
            <a:ext cx="15364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Expansion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3262313" y="2262708"/>
            <a:ext cx="2619375" cy="6000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3412778" y="2354163"/>
            <a:ext cx="227071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Recommendation Engine</a:t>
            </a:r>
            <a:endParaRPr lang="en-US" sz="790" dirty="0"/>
          </a:p>
        </p:txBody>
      </p:sp>
      <p:sp>
        <p:nvSpPr>
          <p:cNvPr id="25" name="Text 23"/>
          <p:cNvSpPr/>
          <p:nvPr/>
        </p:nvSpPr>
        <p:spPr>
          <a:xfrm>
            <a:off x="3412778" y="2520851"/>
            <a:ext cx="3017535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cross-selling personalization for 41,740 Loyal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buyers — targeting ARPU growth from R$ 121.10.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262313" y="2939728"/>
            <a:ext cx="2619375" cy="6000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3412778" y="3031182"/>
            <a:ext cx="161444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Shipping Threshold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3412778" y="3197870"/>
            <a:ext cx="2939274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AOV-lift mechanics through free shipping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thresholds tied to cross-category bundles.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3262313" y="4386449"/>
            <a:ext cx="2619375" cy="500063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3253" y="4473253"/>
            <a:ext cx="10267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ARPU lift target</a:t>
            </a:r>
            <a:endParaRPr lang="en-US" sz="610" dirty="0"/>
          </a:p>
        </p:txBody>
      </p:sp>
      <p:sp>
        <p:nvSpPr>
          <p:cNvPr id="31" name="Text 29"/>
          <p:cNvSpPr/>
          <p:nvPr/>
        </p:nvSpPr>
        <p:spPr>
          <a:xfrm>
            <a:off x="3403253" y="4604072"/>
            <a:ext cx="169193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+10% = +R$ 505K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66458" y="1372084"/>
            <a:ext cx="2619375" cy="3514725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6065490" y="1520205"/>
            <a:ext cx="66321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Weeks 9–12</a:t>
            </a:r>
            <a:endParaRPr lang="en-US" sz="610" dirty="0"/>
          </a:p>
        </p:txBody>
      </p:sp>
      <p:sp>
        <p:nvSpPr>
          <p:cNvPr id="34" name="Text 32"/>
          <p:cNvSpPr/>
          <p:nvPr/>
        </p:nvSpPr>
        <p:spPr>
          <a:xfrm>
            <a:off x="6065490" y="1707207"/>
            <a:ext cx="86675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300" b="1" spc="-2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65490" y="1996008"/>
            <a:ext cx="17090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94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Win-Back &amp; Nurturing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066458" y="2262708"/>
            <a:ext cx="2619375" cy="6000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6216923" y="2354163"/>
            <a:ext cx="16511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Customer Win-Back</a:t>
            </a:r>
            <a:endParaRPr lang="en-US" sz="790" dirty="0"/>
          </a:p>
        </p:txBody>
      </p:sp>
      <p:sp>
        <p:nvSpPr>
          <p:cNvPr id="38" name="Text 36"/>
          <p:cNvSpPr/>
          <p:nvPr/>
        </p:nvSpPr>
        <p:spPr>
          <a:xfrm>
            <a:off x="6216923" y="2520851"/>
            <a:ext cx="2928632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lifecycle email sequences for 12,593 Lost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— 5% reactivation = R$ 103K recovered.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066458" y="2939728"/>
            <a:ext cx="2619375" cy="6000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216923" y="3031182"/>
            <a:ext cx="143876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79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Nurturing Drip</a:t>
            </a:r>
            <a:endParaRPr lang="en-US" sz="790" dirty="0"/>
          </a:p>
        </p:txBody>
      </p:sp>
      <p:sp>
        <p:nvSpPr>
          <p:cNvPr id="41" name="Text 39"/>
          <p:cNvSpPr/>
          <p:nvPr/>
        </p:nvSpPr>
        <p:spPr>
          <a:xfrm>
            <a:off x="6216923" y="3197870"/>
            <a:ext cx="3061454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sequences and second-purchase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incentives to migrate 25,402 Others toward Loyal tier.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066458" y="4386449"/>
            <a:ext cx="2619375" cy="500063"/>
          </a:xfrm>
          <a:prstGeom prst="rect">
            <a:avLst/>
          </a:prstGeom>
          <a:ln w="4763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7398" y="4473253"/>
            <a:ext cx="126918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Win-back yield at 5%</a:t>
            </a:r>
            <a:endParaRPr lang="en-US" sz="610" dirty="0"/>
          </a:p>
        </p:txBody>
      </p:sp>
      <p:sp>
        <p:nvSpPr>
          <p:cNvPr id="44" name="Text 42"/>
          <p:cNvSpPr/>
          <p:nvPr/>
        </p:nvSpPr>
        <p:spPr>
          <a:xfrm>
            <a:off x="6207398" y="4604072"/>
            <a:ext cx="9310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-23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+R$ 103K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46" name="Text 44"/>
          <p:cNvSpPr/>
          <p:nvPr/>
        </p:nvSpPr>
        <p:spPr>
          <a:xfrm>
            <a:off x="457200" y="4767635"/>
            <a:ext cx="23019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Roadmap / RFM Customer Segmentation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57200" y="223838"/>
            <a:ext cx="513707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</a:t>
            </a:r>
            <a:endParaRPr lang="en-US" sz="252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167" y="1372084"/>
            <a:ext cx="2619375" cy="3514725"/>
          </a:xfrm>
          <a:prstGeom prst="rect">
            <a:avLst/>
          </a:prstGeom>
        </p:spPr>
      </p:pic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167" y="2262708"/>
            <a:ext cx="2619375" cy="600075"/>
          </a:xfrm>
          <a:prstGeom prst="rect">
            <a:avLst/>
          </a:prstGeom>
        </p:spPr>
      </p:pic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167" y="2939728"/>
            <a:ext cx="2619375" cy="600075"/>
          </a:xfrm>
          <a:prstGeom prst="rect">
            <a:avLst/>
          </a:prstGeom>
        </p:spPr>
      </p:pic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2313" y="1372084"/>
            <a:ext cx="2619375" cy="3514725"/>
          </a:xfrm>
          <a:prstGeom prst="rect">
            <a:avLst/>
          </a:prstGeom>
        </p:spPr>
      </p:pic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2313" y="2262708"/>
            <a:ext cx="2619375" cy="600075"/>
          </a:xfrm>
          <a:prstGeom prst="rect">
            <a:avLst/>
          </a:prstGeom>
        </p:spPr>
      </p:pic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2313" y="2939728"/>
            <a:ext cx="2619375" cy="600075"/>
          </a:xfrm>
          <a:prstGeom prst="rect">
            <a:avLst/>
          </a:prstGeom>
        </p:spPr>
      </p:pic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66458" y="1372084"/>
            <a:ext cx="2619375" cy="3514725"/>
          </a:xfrm>
          <a:prstGeom prst="rect">
            <a:avLst/>
          </a:prstGeom>
        </p:spPr>
      </p:pic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66458" y="2262708"/>
            <a:ext cx="2619375" cy="600075"/>
          </a:xfrm>
          <a:prstGeom prst="rect">
            <a:avLst/>
          </a:prstGeom>
        </p:spPr>
      </p:pic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66458" y="2939728"/>
            <a:ext cx="2619375" cy="600075"/>
          </a:xfrm>
          <a:prstGeom prst="rect">
            <a:avLst/>
          </a:prstGeom>
        </p:spPr>
      </p:pic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6750" y="335198"/>
            <a:ext cx="2009775" cy="152400"/>
          </a:xfrm>
          <a:prstGeom prst="rect">
            <a:avLst/>
          </a:prstGeom>
          <a:solidFill>
            <a:srgbClr val="0A162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22047" y="271463"/>
            <a:ext cx="105132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860" dirty="0"/>
          </a:p>
        </p:txBody>
      </p:sp>
      <p:sp>
        <p:nvSpPr>
          <p:cNvPr id="5" name="Shape 3"/>
          <p:cNvSpPr/>
          <p:nvPr/>
        </p:nvSpPr>
        <p:spPr>
          <a:xfrm>
            <a:off x="457200" y="782538"/>
            <a:ext cx="8229600" cy="27146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594345" y="864766"/>
            <a:ext cx="114797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METRIC / OBJECTIVE</a:t>
            </a:r>
            <a:endParaRPr lang="en-US" sz="610" dirty="0"/>
          </a:p>
        </p:txBody>
      </p:sp>
      <p:sp>
        <p:nvSpPr>
          <p:cNvPr id="7" name="Text 5"/>
          <p:cNvSpPr/>
          <p:nvPr/>
        </p:nvSpPr>
        <p:spPr>
          <a:xfrm>
            <a:off x="2867323" y="864766"/>
            <a:ext cx="9055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BASELINE STATE</a:t>
            </a:r>
            <a:endParaRPr lang="en-US" sz="610" dirty="0"/>
          </a:p>
        </p:txBody>
      </p:sp>
      <p:sp>
        <p:nvSpPr>
          <p:cNvPr id="8" name="Text 6"/>
          <p:cNvSpPr/>
          <p:nvPr/>
        </p:nvSpPr>
        <p:spPr>
          <a:xfrm>
            <a:off x="4572000" y="864766"/>
            <a:ext cx="13903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STRATEGIC INTERVENTION</a:t>
            </a:r>
            <a:endParaRPr lang="en-US" sz="610" dirty="0"/>
          </a:p>
        </p:txBody>
      </p:sp>
      <p:sp>
        <p:nvSpPr>
          <p:cNvPr id="9" name="Text 7"/>
          <p:cNvSpPr/>
          <p:nvPr/>
        </p:nvSpPr>
        <p:spPr>
          <a:xfrm>
            <a:off x="6844978" y="864766"/>
            <a:ext cx="13903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UNLOCKED ROI POTENTIAL</a:t>
            </a:r>
            <a:endParaRPr lang="en-US" sz="610" dirty="0"/>
          </a:p>
        </p:txBody>
      </p:sp>
      <p:sp>
        <p:nvSpPr>
          <p:cNvPr id="10" name="Shape 8"/>
          <p:cNvSpPr/>
          <p:nvPr/>
        </p:nvSpPr>
        <p:spPr>
          <a:xfrm>
            <a:off x="457200" y="1054484"/>
            <a:ext cx="8229600" cy="561975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594345" y="1196504"/>
            <a:ext cx="20754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Revenue Protection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94345" y="1360066"/>
            <a:ext cx="18144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13,354 users | ARPU R$ 306.21</a:t>
            </a:r>
            <a:endParaRPr lang="en-US" sz="610" dirty="0"/>
          </a:p>
        </p:txBody>
      </p:sp>
      <p:sp>
        <p:nvSpPr>
          <p:cNvPr id="13" name="Text 11"/>
          <p:cNvSpPr/>
          <p:nvPr/>
        </p:nvSpPr>
        <p:spPr>
          <a:xfrm>
            <a:off x="2867323" y="1191741"/>
            <a:ext cx="2264524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R$ 4.09M revenue unmonitored — no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program or dedicated retention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4572000" y="1191741"/>
            <a:ext cx="3009506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VIP Loyalty Concierge ("Olist Select") with priority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exclusive access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44978" y="1191741"/>
            <a:ext cx="12549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Secures 25.98%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844978" y="1356345"/>
            <a:ext cx="12420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revenue base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57200" y="1616608"/>
            <a:ext cx="8229600" cy="695325"/>
          </a:xfrm>
          <a:prstGeom prst="rect">
            <a:avLst/>
          </a:prstGeom>
          <a:solidFill>
            <a:srgbClr val="FFFB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45" y="1760190"/>
            <a:ext cx="17496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Churn Prevention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594345" y="1923752"/>
            <a:ext cx="17539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1,900 users | ARPU R$ 225.23</a:t>
            </a:r>
            <a:endParaRPr lang="en-US" sz="610" dirty="0"/>
          </a:p>
        </p:txBody>
      </p:sp>
      <p:sp>
        <p:nvSpPr>
          <p:cNvPr id="20" name="Text 18"/>
          <p:cNvSpPr/>
          <p:nvPr/>
        </p:nvSpPr>
        <p:spPr>
          <a:xfrm>
            <a:off x="2867323" y="1755428"/>
            <a:ext cx="222012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R$ 427.93K slipping toward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dormancy — no intervention triggers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configured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572000" y="1755428"/>
            <a:ext cx="293424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14-day inactivity win-back alerts with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discount codes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844978" y="1755428"/>
            <a:ext cx="11694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R$ 64K–R$ 85K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844978" y="1920032"/>
            <a:ext cx="11007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annually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57200" y="2312082"/>
            <a:ext cx="8229600" cy="561975"/>
          </a:xfrm>
          <a:prstGeom prst="rect">
            <a:avLst/>
          </a:prstGeom>
          <a:ln/>
        </p:spPr>
      </p:sp>
      <p:sp>
        <p:nvSpPr>
          <p:cNvPr id="25" name="Text 23"/>
          <p:cNvSpPr/>
          <p:nvPr/>
        </p:nvSpPr>
        <p:spPr>
          <a:xfrm>
            <a:off x="594345" y="2454101"/>
            <a:ext cx="22446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Customer ARPU Expansion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594345" y="2617663"/>
            <a:ext cx="18144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41,740 users | ARPU R$ 121.10</a:t>
            </a:r>
            <a:endParaRPr lang="en-US" sz="610" dirty="0"/>
          </a:p>
        </p:txBody>
      </p:sp>
      <p:sp>
        <p:nvSpPr>
          <p:cNvPr id="27" name="Text 25"/>
          <p:cNvSpPr/>
          <p:nvPr/>
        </p:nvSpPr>
        <p:spPr>
          <a:xfrm>
            <a:off x="2867323" y="2449339"/>
            <a:ext cx="22553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R$ 5.05M at static ARPU — no cross-sell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3047405" y="2593330"/>
            <a:ext cx="157845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upsell engine deployed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4572000" y="2449339"/>
            <a:ext cx="2628260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recommendation engine targeting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purchase and AOV increase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6844978" y="2449339"/>
            <a:ext cx="7416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+R$ 505K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6844978" y="2613943"/>
            <a:ext cx="18974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ARPU lift = incremental gain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94345" y="3017788"/>
            <a:ext cx="17242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Customer Win-Back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94345" y="3181350"/>
            <a:ext cx="181449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2"/>
              </a:spcBef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12,593 users | ARPU R$ 164.67</a:t>
            </a:r>
            <a:endParaRPr lang="en-US" sz="610" dirty="0"/>
          </a:p>
        </p:txBody>
      </p:sp>
      <p:sp>
        <p:nvSpPr>
          <p:cNvPr id="34" name="Text 32"/>
          <p:cNvSpPr/>
          <p:nvPr/>
        </p:nvSpPr>
        <p:spPr>
          <a:xfrm>
            <a:off x="2867323" y="3013025"/>
            <a:ext cx="2121255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R$ 2.07M trapped — no automated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reactivation campaigns running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4572000" y="3013025"/>
            <a:ext cx="2875717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lifecycle email series highlighting new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arrivals in previously purchased categories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6844978" y="3013025"/>
            <a:ext cx="7416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+R$ 103K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6844978" y="3177629"/>
            <a:ext cx="1486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reactivation rate yield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57200" y="3536193"/>
            <a:ext cx="8229600" cy="48101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45" y="3719736"/>
            <a:ext cx="287919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Combined Addressable ROI Across All Programs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806851" y="3663330"/>
            <a:ext cx="492279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spc="-4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R$ 700K+ in first-year incremental revenue</a:t>
            </a:r>
            <a:endParaRPr lang="en-US" sz="1440" dirty="0"/>
          </a:p>
        </p:txBody>
      </p:sp>
      <p:sp>
        <p:nvSpPr>
          <p:cNvPr id="41" name="Shape 39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42" name="Text 40"/>
          <p:cNvSpPr/>
          <p:nvPr/>
        </p:nvSpPr>
        <p:spPr>
          <a:xfrm>
            <a:off x="457200" y="4767635"/>
            <a:ext cx="28150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Business Impact / RFM Customer Segmentation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62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57200" y="223838"/>
            <a:ext cx="550777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spc="-76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Business Impact</a:t>
            </a:r>
            <a:endParaRPr lang="en-US" sz="252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054484"/>
            <a:ext cx="8229600" cy="561975"/>
          </a:xfrm>
          <a:prstGeom prst="rect">
            <a:avLst/>
          </a:prstGeom>
        </p:spPr>
      </p:pic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616608"/>
            <a:ext cx="8229600" cy="695325"/>
          </a:xfrm>
          <a:prstGeom prst="rect">
            <a:avLst/>
          </a:prstGeom>
        </p:spPr>
      </p:pic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312082"/>
            <a:ext cx="8229600" cy="561975"/>
          </a:xfrm>
          <a:prstGeom prst="rect">
            <a:avLst/>
          </a:prstGeom>
        </p:spPr>
      </p:pic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6225"/>
            <a:ext cx="130023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Olist Analytics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847011" y="261937"/>
            <a:ext cx="262264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Enterprise BI Portfolio — Project 2 of 4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8094762" y="261937"/>
            <a:ext cx="8268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65" y="1836911"/>
            <a:ext cx="2743200" cy="2571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53146"/>
            <a:ext cx="6584469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actions the CRM and Marketing teams can execute immediately —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waiting for additional data infrastructure.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8167" y="3230687"/>
            <a:ext cx="2314575" cy="795338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3373041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Action 01</a:t>
            </a:r>
            <a:endParaRPr lang="en-US" sz="610" dirty="0"/>
          </a:p>
        </p:txBody>
      </p:sp>
      <p:sp>
        <p:nvSpPr>
          <p:cNvPr id="10" name="Text 8"/>
          <p:cNvSpPr/>
          <p:nvPr/>
        </p:nvSpPr>
        <p:spPr>
          <a:xfrm>
            <a:off x="457200" y="3550518"/>
            <a:ext cx="16630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 VIP Concierge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457200" y="3761780"/>
            <a:ext cx="3040655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Champions program within 2 weeks. 13,354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users, R$ 4.09M protected.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957513" y="3230687"/>
            <a:ext cx="2314575" cy="795338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2956545" y="3373041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Action 02</a:t>
            </a:r>
            <a:endParaRPr lang="en-US" sz="610" dirty="0"/>
          </a:p>
        </p:txBody>
      </p:sp>
      <p:sp>
        <p:nvSpPr>
          <p:cNvPr id="14" name="Text 12"/>
          <p:cNvSpPr/>
          <p:nvPr/>
        </p:nvSpPr>
        <p:spPr>
          <a:xfrm>
            <a:off x="2956545" y="3550518"/>
            <a:ext cx="17573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At-Risk Alerts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956545" y="3761780"/>
            <a:ext cx="2969166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14-day inactivity triggers for 1,900 high-ARPU users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protect R$ 427.93K before it goes cold.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5456858" y="3230687"/>
            <a:ext cx="2314575" cy="795338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5455890" y="3373041"/>
            <a:ext cx="6025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61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Action 03</a:t>
            </a:r>
            <a:endParaRPr lang="en-US" sz="610" dirty="0"/>
          </a:p>
        </p:txBody>
      </p:sp>
      <p:sp>
        <p:nvSpPr>
          <p:cNvPr id="18" name="Text 16"/>
          <p:cNvSpPr/>
          <p:nvPr/>
        </p:nvSpPr>
        <p:spPr>
          <a:xfrm>
            <a:off x="5455890" y="3550518"/>
            <a:ext cx="21035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Win-Back Sequences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455890" y="3761780"/>
            <a:ext cx="2902513" cy="25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email flows for 12,593 Lost accounts —</a:t>
            </a:r>
            <a:endParaRPr lang="en-US" sz="720" dirty="0"/>
          </a:p>
          <a:p>
            <a:pPr algn="l"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recovery yield = R$ 103K reactivated.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57200" y="4654116"/>
            <a:ext cx="8229600" cy="233362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457200" y="4767635"/>
            <a:ext cx="416194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0AE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Closing / RFM Customer Segmentation — Olist Brazilian E-Commerce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588127" y="4767635"/>
            <a:ext cx="18542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1667396"/>
            <a:ext cx="6597335" cy="719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80" b="1" spc="-18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Path Forward.</a:t>
            </a:r>
            <a:endParaRPr lang="en-US" sz="468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167" y="3230687"/>
            <a:ext cx="2314575" cy="795338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7513" y="3230687"/>
            <a:ext cx="2314575" cy="795338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6858" y="3230687"/>
            <a:ext cx="2314575" cy="795338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654116"/>
            <a:ext cx="8229600" cy="233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2026-07-21T18:27:20Z</dcterms:created>
  <dcterms:modified xsi:type="dcterms:W3CDTF">2026-07-21T18:27:20Z</dcterms:modified>
</cp:coreProperties>
</file>